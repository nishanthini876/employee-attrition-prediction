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9753600" cy="7315200"/>
  <p:notesSz cx="6858000" cy="9144000"/>
  <p:embeddedFontLst>
    <p:embeddedFont>
      <p:font typeface="Times New Roman Bold" charset="1" panose="02020803070505020304"/>
      <p:regular r:id="rId32"/>
    </p:embeddedFont>
    <p:embeddedFont>
      <p:font typeface="Times New Roman" charset="1" panose="02020603050405020304"/>
      <p:regular r:id="rId33"/>
    </p:embeddedFont>
    <p:embeddedFont>
      <p:font typeface="Calibri (MS)" charset="1" panose="020F0502020204030204"/>
      <p:regular r:id="rId34"/>
    </p:embeddedFont>
    <p:embeddedFont>
      <p:font typeface="Arimo" charset="1" panose="020B0604020202020204"/>
      <p:regular r:id="rId35"/>
    </p:embeddedFont>
    <p:embeddedFont>
      <p:font typeface="Arimo Bold" charset="1" panose="020B0704020202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4749" y="272701"/>
            <a:ext cx="2170519" cy="826275"/>
            <a:chOff x="0" y="0"/>
            <a:chExt cx="2894025" cy="1101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94076" cy="1101725"/>
            </a:xfrm>
            <a:custGeom>
              <a:avLst/>
              <a:gdLst/>
              <a:ahLst/>
              <a:cxnLst/>
              <a:rect r="r" b="b" t="t" l="l"/>
              <a:pathLst>
                <a:path h="1101725" w="2894076">
                  <a:moveTo>
                    <a:pt x="0" y="0"/>
                  </a:moveTo>
                  <a:lnTo>
                    <a:pt x="2894076" y="0"/>
                  </a:lnTo>
                  <a:lnTo>
                    <a:pt x="2894076" y="1101725"/>
                  </a:lnTo>
                  <a:lnTo>
                    <a:pt x="0" y="110172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59696" y="170059"/>
            <a:ext cx="1518999" cy="882472"/>
            <a:chOff x="0" y="0"/>
            <a:chExt cx="2025332" cy="11766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25396" cy="1176655"/>
            </a:xfrm>
            <a:custGeom>
              <a:avLst/>
              <a:gdLst/>
              <a:ahLst/>
              <a:cxnLst/>
              <a:rect r="r" b="b" t="t" l="l"/>
              <a:pathLst>
                <a:path h="1176655" w="2025396">
                  <a:moveTo>
                    <a:pt x="0" y="0"/>
                  </a:moveTo>
                  <a:lnTo>
                    <a:pt x="2025396" y="0"/>
                  </a:lnTo>
                  <a:lnTo>
                    <a:pt x="2025396" y="1176655"/>
                  </a:lnTo>
                  <a:lnTo>
                    <a:pt x="0" y="11766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75358" y="2106271"/>
            <a:ext cx="7802885" cy="1551329"/>
            <a:chOff x="0" y="0"/>
            <a:chExt cx="10403839" cy="20684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03839" cy="2068435"/>
            </a:xfrm>
            <a:custGeom>
              <a:avLst/>
              <a:gdLst/>
              <a:ahLst/>
              <a:cxnLst/>
              <a:rect r="r" b="b" t="t" l="l"/>
              <a:pathLst>
                <a:path h="2068435" w="10403839">
                  <a:moveTo>
                    <a:pt x="0" y="0"/>
                  </a:moveTo>
                  <a:lnTo>
                    <a:pt x="10403839" y="0"/>
                  </a:lnTo>
                  <a:lnTo>
                    <a:pt x="10403839" y="2068435"/>
                  </a:lnTo>
                  <a:lnTo>
                    <a:pt x="0" y="20684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96" r="6249" b="-7396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0403839" cy="204938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968"/>
                </a:lnSpc>
              </a:pPr>
              <a:r>
                <a:rPr lang="en-US" b="true" sz="4600" spc="-28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DECISION INTELLIGENCE &amp; BUSINESS IMPACT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051491" y="3897420"/>
            <a:ext cx="5650619" cy="155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7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Name: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SSS Shasun</a:t>
            </a:r>
          </a:p>
          <a:p>
            <a:pPr algn="l">
              <a:lnSpc>
                <a:spcPts val="3023"/>
              </a:lnSpc>
            </a:pPr>
            <a:r>
              <a:rPr lang="en-US" sz="27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members: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Lohita Kandaswamy</a:t>
            </a:r>
          </a:p>
          <a:p>
            <a:pPr algn="l">
              <a:lnSpc>
                <a:spcPts val="3023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Nishanthini</a:t>
            </a:r>
          </a:p>
          <a:p>
            <a:pPr algn="l">
              <a:lnSpc>
                <a:spcPts val="3023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Reshma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31520" y="867855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sz="3519" spc="-2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What Are We Solving?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45879" y="1771375"/>
            <a:ext cx="6781853" cy="88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</a:p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 attrition is a major challenge for organizations.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5879" y="2738334"/>
            <a:ext cx="8229600" cy="4126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3"/>
              </a:lnSpc>
            </a:pPr>
            <a:r>
              <a:rPr lang="en-US" sz="26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 employee turnover results in: 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Recruitment costs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expenses 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Productivity loss </a:t>
            </a:r>
          </a:p>
          <a:p>
            <a:pPr algn="l" marL="496569" indent="-248284" lvl="1">
              <a:lnSpc>
                <a:spcPts val="1701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loss </a:t>
            </a:r>
          </a:p>
          <a:p>
            <a:pPr algn="l">
              <a:lnSpc>
                <a:spcPts val="1701"/>
              </a:lnSpc>
            </a:pPr>
          </a:p>
          <a:p>
            <a:pPr algn="l">
              <a:lnSpc>
                <a:spcPts val="2897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</a:p>
          <a:p>
            <a:pPr algn="l">
              <a:lnSpc>
                <a:spcPts val="3401"/>
              </a:lnSpc>
            </a:pPr>
            <a:r>
              <a:rPr lang="en-US" sz="26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 data analytics and </a:t>
            </a:r>
            <a:r>
              <a:rPr lang="en-US" sz="26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machine learning to:</a:t>
            </a:r>
          </a:p>
          <a:p>
            <a:pPr algn="l" marL="496569" indent="-248284" lvl="1">
              <a:lnSpc>
                <a:spcPts val="344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attrition factors </a:t>
            </a:r>
          </a:p>
          <a:p>
            <a:pPr algn="l" marL="496569" indent="-248284" lvl="1">
              <a:lnSpc>
                <a:spcPts val="344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 employee resignations</a:t>
            </a:r>
          </a:p>
          <a:p>
            <a:pPr algn="l" marL="496569" indent="-248284" lvl="1">
              <a:lnSpc>
                <a:spcPts val="344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 retention strategies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04034" y="1364828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DECISION INTELLEGENCE &amp; BUSINESS IMPACT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95474" y="2949359"/>
            <a:ext cx="8229600" cy="278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Why </a:t>
            </a: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Theme? </a:t>
            </a:r>
          </a:p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enables data-driven HR decisions by: </a:t>
            </a:r>
          </a:p>
          <a:p>
            <a:pPr algn="l">
              <a:lnSpc>
                <a:spcPts val="2484"/>
              </a:lnSpc>
            </a:pPr>
          </a:p>
          <a:p>
            <a:pPr algn="l" marL="496571" indent="-248285" lvl="1">
              <a:lnSpc>
                <a:spcPts val="3749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Understanding attrition patterns </a:t>
            </a:r>
          </a:p>
          <a:p>
            <a:pPr algn="l" marL="496571" indent="-248285" lvl="1">
              <a:lnSpc>
                <a:spcPts val="3749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Predicting future attrition </a:t>
            </a:r>
          </a:p>
          <a:p>
            <a:pPr algn="l" marL="496571" indent="-248285" lvl="1">
              <a:lnSpc>
                <a:spcPts val="3749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Improving workforce planning </a:t>
            </a:r>
          </a:p>
          <a:p>
            <a:pPr algn="l" marL="496571" indent="-248285" lvl="1">
              <a:lnSpc>
                <a:spcPts val="3749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Reducing employee turnover costs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96436" y="1115606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DATASET DETAILS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96436" y="2135086"/>
            <a:ext cx="8229600" cy="33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HR Analytics Employee Attrition Dataset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7876" y="2616214"/>
            <a:ext cx="8229600" cy="415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Information Employees:</a:t>
            </a: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1470 </a:t>
            </a: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Features:</a:t>
            </a: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35 </a:t>
            </a: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Target Variable:</a:t>
            </a: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Attrition (Yes,No)</a:t>
            </a:r>
          </a:p>
          <a:p>
            <a:pPr algn="l">
              <a:lnSpc>
                <a:spcPts val="4347"/>
              </a:lnSpc>
            </a:pP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Variables: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EmpStatusID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Score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Engagement Survey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EmpSatisfaction  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Salary 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006937" y="4286782"/>
            <a:ext cx="8229600" cy="200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Absence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ays Late Last 30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EmploymentStatus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ate of Hire</a:t>
            </a:r>
          </a:p>
          <a:p>
            <a:pPr algn="l">
              <a:lnSpc>
                <a:spcPts val="322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04034" y="1070896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BUSINESS UNDERSTANDING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04034" y="2266747"/>
            <a:ext cx="82296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6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are employees leaving?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0003" y="2729509"/>
            <a:ext cx="8229600" cy="200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Stakeholders 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HR Department 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 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Heads 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Intelligence Goal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4034" y="4920513"/>
            <a:ext cx="82296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6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Identify: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0013" y="5449951"/>
            <a:ext cx="8229600" cy="120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 is likely to leave? 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are they leaving? 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actions can prevent attrition?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70560" y="869634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METHODOLOGY &amp; APPROACH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83498" y="2102593"/>
            <a:ext cx="7856639" cy="474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Understanding </a:t>
            </a:r>
          </a:p>
          <a:p>
            <a:pPr algn="ctr">
              <a:lnSpc>
                <a:spcPts val="2483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</a:p>
          <a:p>
            <a:pPr algn="ctr">
              <a:lnSpc>
                <a:spcPts val="2483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Collection</a:t>
            </a:r>
          </a:p>
          <a:p>
            <a:pPr algn="ctr">
              <a:lnSpc>
                <a:spcPts val="2483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</a:p>
          <a:p>
            <a:pPr algn="ctr">
              <a:lnSpc>
                <a:spcPts val="2483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 </a:t>
            </a:r>
          </a:p>
          <a:p>
            <a:pPr algn="ctr">
              <a:lnSpc>
                <a:spcPts val="2483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</a:p>
          <a:p>
            <a:pPr algn="ctr">
              <a:lnSpc>
                <a:spcPts val="2483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EDA </a:t>
            </a:r>
          </a:p>
          <a:p>
            <a:pPr algn="ctr">
              <a:lnSpc>
                <a:spcPts val="2483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</a:p>
          <a:p>
            <a:pPr algn="ctr">
              <a:lnSpc>
                <a:spcPts val="2483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 </a:t>
            </a:r>
          </a:p>
          <a:p>
            <a:pPr algn="ctr">
              <a:lnSpc>
                <a:spcPts val="2483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</a:p>
          <a:p>
            <a:pPr algn="ctr">
              <a:lnSpc>
                <a:spcPts val="2483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Building</a:t>
            </a:r>
          </a:p>
          <a:p>
            <a:pPr algn="ctr">
              <a:lnSpc>
                <a:spcPts val="2483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</a:p>
          <a:p>
            <a:pPr algn="ctr">
              <a:lnSpc>
                <a:spcPts val="2483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</a:t>
            </a:r>
          </a:p>
          <a:p>
            <a:pPr algn="ctr">
              <a:lnSpc>
                <a:spcPts val="2483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 </a:t>
            </a:r>
          </a:p>
          <a:p>
            <a:pPr algn="ctr">
              <a:lnSpc>
                <a:spcPts val="2483"/>
              </a:lnSpc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02228" y="240702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31520" y="1240365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CLEANING &amp; </a:t>
              </a: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PREPARATION 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01040" y="2465037"/>
            <a:ext cx="8321040" cy="358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6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Activities Performed Missing Value:</a:t>
            </a:r>
          </a:p>
          <a:p>
            <a:pPr algn="l">
              <a:lnSpc>
                <a:spcPts val="2484"/>
              </a:lnSpc>
            </a:pPr>
          </a:p>
          <a:p>
            <a:pPr algn="l" marL="496571" indent="-248285" lvl="1">
              <a:lnSpc>
                <a:spcPts val="2484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No significant missing values Duplicate Records </a:t>
            </a:r>
          </a:p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Checked and removed if present Encoding </a:t>
            </a:r>
          </a:p>
          <a:p>
            <a:pPr algn="l">
              <a:lnSpc>
                <a:spcPts val="2484"/>
              </a:lnSpc>
            </a:pPr>
          </a:p>
          <a:p>
            <a:pPr algn="l">
              <a:lnSpc>
                <a:spcPts val="2915"/>
              </a:lnSpc>
            </a:pPr>
            <a:r>
              <a:rPr lang="en-US" sz="26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Attrition: </a:t>
            </a:r>
          </a:p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 marL="496571" indent="-248285" lvl="1">
              <a:lnSpc>
                <a:spcPts val="2484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 = 1</a:t>
            </a:r>
          </a:p>
          <a:p>
            <a:pPr algn="l" marL="496571" indent="-248285" lvl="1">
              <a:lnSpc>
                <a:spcPts val="2484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 = 0 </a:t>
            </a:r>
          </a:p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248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02228" y="240702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31520" y="1240365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CLEANING &amp; </a:t>
              </a: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PREPARATION 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01040" y="2417412"/>
            <a:ext cx="8321040" cy="341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3509"/>
              </a:lnSpc>
            </a:pPr>
            <a:r>
              <a:rPr lang="en-US" sz="26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Feature Selection Removed:</a:t>
            </a:r>
          </a:p>
          <a:p>
            <a:pPr algn="l">
              <a:lnSpc>
                <a:spcPts val="2990"/>
              </a:lnSpc>
            </a:pPr>
          </a:p>
          <a:p>
            <a:pPr algn="l" marL="496571" indent="-248285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 Number </a:t>
            </a:r>
          </a:p>
          <a:p>
            <a:pPr algn="l" marL="496571" indent="-248285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 Count </a:t>
            </a:r>
          </a:p>
          <a:p>
            <a:pPr algn="l" marL="496571" indent="-248285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Hours </a:t>
            </a:r>
          </a:p>
          <a:p>
            <a:pPr algn="l" marL="496571" indent="-248285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 18 </a:t>
            </a:r>
          </a:p>
          <a:p>
            <a:pPr algn="l">
              <a:lnSpc>
                <a:spcPts val="2990"/>
              </a:lnSpc>
            </a:pPr>
          </a:p>
          <a:p>
            <a:pPr algn="l">
              <a:lnSpc>
                <a:spcPts val="299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variables don't contribute to prediction.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6168" y="910952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EXPLO</a:t>
              </a: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RATORY DATA ANALYSIS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86168" y="2105599"/>
            <a:ext cx="8229600" cy="33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section should contain multiple charts.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7395" y="3514513"/>
            <a:ext cx="8229600" cy="33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Finding: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6168" y="2568361"/>
            <a:ext cx="82296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Attrition Distribution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6168" y="3108900"/>
            <a:ext cx="8229600" cy="33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Pie Chart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33401" y="3977276"/>
            <a:ext cx="8229600" cy="96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484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33.4% employees left</a:t>
            </a:r>
          </a:p>
          <a:p>
            <a:pPr algn="l" marL="496571" indent="-248285" lvl="1">
              <a:lnSpc>
                <a:spcPts val="2484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66.6% employees stayed </a:t>
            </a:r>
          </a:p>
          <a:p>
            <a:pPr algn="l" marL="496571" indent="-248285" lvl="1">
              <a:lnSpc>
                <a:spcPts val="2484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Department-wise Attrition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7395" y="5455251"/>
            <a:ext cx="8229600" cy="33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Finding: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6168" y="5049638"/>
            <a:ext cx="8229600" cy="33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Bar Chart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33401" y="5876256"/>
            <a:ext cx="8229600" cy="65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484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 department has highest attrition </a:t>
            </a:r>
          </a:p>
          <a:p>
            <a:pPr algn="l" marL="496571" indent="-248285" lvl="1">
              <a:lnSpc>
                <a:spcPts val="2484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Overtime vs Attrition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57995" y="1869719"/>
            <a:ext cx="8229600" cy="33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Finding: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6767" y="1464106"/>
            <a:ext cx="8229600" cy="33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Stacked Bar Chart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4000" y="2332482"/>
            <a:ext cx="8229600" cy="65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484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Employees working overtime leave significantly more often </a:t>
            </a:r>
          </a:p>
          <a:p>
            <a:pPr algn="l" marL="496571" indent="-248285" lvl="1">
              <a:lnSpc>
                <a:spcPts val="2484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Salary vs Attrition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7995" y="3591382"/>
            <a:ext cx="8229600" cy="33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Finding: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2480" y="3214497"/>
            <a:ext cx="8229600" cy="33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Box Plot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4000" y="4012387"/>
            <a:ext cx="8229600" cy="65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484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Lower-income employees exhibit higher attrition</a:t>
            </a:r>
          </a:p>
          <a:p>
            <a:pPr algn="l" marL="496571" indent="-248285" lvl="1">
              <a:lnSpc>
                <a:spcPts val="2484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 Satisfaction vs Attrition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2748" y="5271287"/>
            <a:ext cx="8229600" cy="33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Finding: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2480" y="4818050"/>
            <a:ext cx="8229600" cy="33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Bar Chart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8753" y="5692292"/>
            <a:ext cx="8229600" cy="96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484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of Salary by performance score</a:t>
            </a:r>
          </a:p>
          <a:p>
            <a:pPr algn="l" marL="496571" indent="-248285" lvl="1">
              <a:lnSpc>
                <a:spcPts val="2484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chart shows how the total salary budget is distributed among employees with different performance ratings.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6168" y="901427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Py</a:t>
              </a: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thon Implementation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05131" y="2165404"/>
            <a:ext cx="8229600" cy="33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Libraries Used: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5131" y="2590067"/>
            <a:ext cx="8229600" cy="146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pandas as pd </a:t>
            </a:r>
          </a:p>
          <a:p>
            <a:pPr algn="l">
              <a:lnSpc>
                <a:spcPts val="2875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numpy as np</a:t>
            </a:r>
          </a:p>
          <a:p>
            <a:pPr algn="l">
              <a:lnSpc>
                <a:spcPts val="2875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matplotlib.pyplot as plt</a:t>
            </a:r>
          </a:p>
          <a:p>
            <a:pPr algn="l">
              <a:lnSpc>
                <a:spcPts val="2875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seaborn as sns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5131" y="4373528"/>
            <a:ext cx="8229600" cy="146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sklearn.model_selection</a:t>
            </a:r>
          </a:p>
          <a:p>
            <a:pPr algn="l">
              <a:lnSpc>
                <a:spcPts val="2875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train_test_split from sklearn.ensemble</a:t>
            </a:r>
          </a:p>
          <a:p>
            <a:pPr algn="l">
              <a:lnSpc>
                <a:spcPts val="2875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RandomForestClassifier from sklearn.metrics </a:t>
            </a:r>
          </a:p>
          <a:p>
            <a:pPr algn="l">
              <a:lnSpc>
                <a:spcPts val="2875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classification_report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6168" y="1177833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PY</a:t>
              </a: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THON IMPLEMENTATION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86168" y="2701923"/>
            <a:ext cx="8229600" cy="240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Tasks Performed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Loading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Cleaning EDA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 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Building 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03710" y="880173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PY</a:t>
              </a: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THON IMPLEMENTATION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125680" y="2124788"/>
            <a:ext cx="5502240" cy="4458892"/>
          </a:xfrm>
          <a:custGeom>
            <a:avLst/>
            <a:gdLst/>
            <a:ahLst/>
            <a:cxnLst/>
            <a:rect r="r" b="b" t="t" l="l"/>
            <a:pathLst>
              <a:path h="4458892" w="5502240">
                <a:moveTo>
                  <a:pt x="0" y="0"/>
                </a:moveTo>
                <a:lnTo>
                  <a:pt x="5502240" y="0"/>
                </a:lnTo>
                <a:lnTo>
                  <a:pt x="5502240" y="4458892"/>
                </a:lnTo>
                <a:lnTo>
                  <a:pt x="0" y="44588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10" r="0" b="-161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2344" y="1665575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MAC</a:t>
              </a: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HINE LEARNING MODEL 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595615" y="3119485"/>
            <a:ext cx="8229600" cy="146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564" indent="-295782" lvl="1">
              <a:lnSpc>
                <a:spcPts val="3835"/>
              </a:lnSpc>
              <a:buFont typeface="Arial"/>
              <a:buChar char="•"/>
            </a:pP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Tested </a:t>
            </a:r>
          </a:p>
          <a:p>
            <a:pPr algn="l" marL="591564" indent="-295782" lvl="1">
              <a:lnSpc>
                <a:spcPts val="3835"/>
              </a:lnSpc>
              <a:buFont typeface="Arial"/>
              <a:buChar char="•"/>
            </a:pP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</a:t>
            </a:r>
          </a:p>
          <a:p>
            <a:pPr algn="l" marL="591564" indent="-295782" lvl="1">
              <a:lnSpc>
                <a:spcPts val="3835"/>
              </a:lnSpc>
              <a:buFont typeface="Arial"/>
              <a:buChar char="•"/>
            </a:pP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6168" y="879380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</a:t>
              </a: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ODEL EVALUATION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21132" y="2293314"/>
          <a:ext cx="7911336" cy="3970494"/>
        </p:xfrm>
        <a:graphic>
          <a:graphicData uri="http://schemas.openxmlformats.org/drawingml/2006/table">
            <a:tbl>
              <a:tblPr/>
              <a:tblGrid>
                <a:gridCol w="3955668"/>
                <a:gridCol w="3955668"/>
              </a:tblGrid>
              <a:tr h="7867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Metric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Score</a:t>
                      </a: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7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87%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6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82%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4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Recall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79%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6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F1 Score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80%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6168" y="1240365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</a:t>
              </a: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EATURE IMPORTANCE 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60013" y="2948685"/>
            <a:ext cx="8229600" cy="240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Overtime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Monthly Income 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 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Years at Company 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 Satisfaction </a:t>
            </a:r>
          </a:p>
          <a:p>
            <a:pPr algn="l">
              <a:lnSpc>
                <a:spcPts val="322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886168" y="2293237"/>
            <a:ext cx="4296418" cy="722124"/>
            <a:chOff x="0" y="0"/>
            <a:chExt cx="11216640" cy="18852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3"/>
                </a:lnSpc>
              </a:pPr>
              <a:r>
                <a:rPr lang="en-US" b="true" sz="2420" spc="-1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</a:t>
              </a:r>
              <a:r>
                <a:rPr lang="en-US" b="true" sz="2420" spc="-1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OP PREDICTORS: 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6168" y="877317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</a:t>
              </a: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EY INSIGHTS: 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01606" y="2151574"/>
            <a:ext cx="7994558" cy="1144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2"/>
              </a:lnSpc>
            </a:pP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Insight 1:</a:t>
            </a:r>
          </a:p>
          <a:p>
            <a:pPr algn="l">
              <a:lnSpc>
                <a:spcPts val="1472"/>
              </a:lnSpc>
            </a:pPr>
          </a:p>
          <a:p>
            <a:pPr algn="l">
              <a:lnSpc>
                <a:spcPts val="1472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workforce is heavily concentrated in the Production</a:t>
            </a:r>
          </a:p>
          <a:p>
            <a:pPr algn="l">
              <a:lnSpc>
                <a:spcPts val="1472"/>
              </a:lnSpc>
            </a:pPr>
          </a:p>
          <a:p>
            <a:pPr algn="l">
              <a:lnSpc>
                <a:spcPts val="1472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department,</a:t>
            </a:r>
          </a:p>
          <a:p>
            <a:pPr algn="l">
              <a:lnSpc>
                <a:spcPts val="147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88652" y="3315050"/>
            <a:ext cx="7994558" cy="7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2"/>
              </a:lnSpc>
            </a:pP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Insight 2:</a:t>
            </a:r>
          </a:p>
          <a:p>
            <a:pPr algn="l">
              <a:lnSpc>
                <a:spcPts val="1472"/>
              </a:lnSpc>
            </a:pPr>
          </a:p>
          <a:p>
            <a:pPr algn="l">
              <a:lnSpc>
                <a:spcPts val="1472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 allocation is not evenly distributed among managers.</a:t>
            </a:r>
          </a:p>
          <a:p>
            <a:pPr algn="l">
              <a:lnSpc>
                <a:spcPts val="147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101606" y="4127204"/>
            <a:ext cx="7994558" cy="105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</a:pP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Insight 3:</a:t>
            </a:r>
          </a:p>
          <a:p>
            <a:pPr algn="l">
              <a:lnSpc>
                <a:spcPts val="1633"/>
              </a:lnSpc>
            </a:pPr>
          </a:p>
          <a:p>
            <a:pPr algn="l">
              <a:lnSpc>
                <a:spcPts val="1633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Recruitment demand is substantially lower in executive and specialized roles.</a:t>
            </a: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l">
              <a:lnSpc>
                <a:spcPts val="163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88652" y="5085158"/>
            <a:ext cx="7994558" cy="105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</a:pP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Insight 4:</a:t>
            </a:r>
          </a:p>
          <a:p>
            <a:pPr algn="l">
              <a:lnSpc>
                <a:spcPts val="1633"/>
              </a:lnSpc>
            </a:pPr>
          </a:p>
          <a:p>
            <a:pPr algn="l">
              <a:lnSpc>
                <a:spcPts val="1633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workforce is primarily composed of single and married employees, </a:t>
            </a: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l">
              <a:lnSpc>
                <a:spcPts val="1633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01606" y="6097171"/>
            <a:ext cx="7994558" cy="105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"/>
              </a:lnSpc>
            </a:pP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Insight 5: </a:t>
            </a:r>
          </a:p>
          <a:p>
            <a:pPr algn="l">
              <a:lnSpc>
                <a:spcPts val="1633"/>
              </a:lnSpc>
            </a:pPr>
          </a:p>
          <a:p>
            <a:pPr algn="l">
              <a:lnSpc>
                <a:spcPts val="1633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Employees with poor work-life balance tend to leave.</a:t>
            </a:r>
          </a:p>
          <a:p>
            <a:pPr algn="l">
              <a:lnSpc>
                <a:spcPts val="1633"/>
              </a:lnSpc>
            </a:pPr>
            <a:r>
              <a:rPr lang="en-US" sz="2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l">
              <a:lnSpc>
                <a:spcPts val="1633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6168" y="921402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POW</a:t>
              </a: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ER BI DASHBOARD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77608" y="2048997"/>
            <a:ext cx="8229600" cy="5198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73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Dashboard Sections:</a:t>
            </a:r>
          </a:p>
          <a:p>
            <a:pPr algn="l">
              <a:lnSpc>
                <a:spcPts val="3199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KPI Cards</a:t>
            </a:r>
          </a:p>
          <a:p>
            <a:pPr algn="l" marL="539749" indent="-269875" lvl="1">
              <a:lnSpc>
                <a:spcPts val="31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Employees Attrition Rate</a:t>
            </a:r>
          </a:p>
          <a:p>
            <a:pPr algn="l" marL="539749" indent="-269875" lvl="1">
              <a:lnSpc>
                <a:spcPts val="31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Salary </a:t>
            </a:r>
          </a:p>
          <a:p>
            <a:pPr algn="l" marL="539749" indent="-269875" lvl="1">
              <a:lnSpc>
                <a:spcPts val="31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Age </a:t>
            </a:r>
          </a:p>
          <a:p>
            <a:pPr algn="l">
              <a:lnSpc>
                <a:spcPts val="3199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Visualizations </a:t>
            </a:r>
          </a:p>
          <a:p>
            <a:pPr algn="l" marL="539749" indent="-269875" lvl="1">
              <a:lnSpc>
                <a:spcPts val="31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</a:t>
            </a:r>
          </a:p>
          <a:p>
            <a:pPr algn="l" marL="539749" indent="-269875" lvl="1">
              <a:lnSpc>
                <a:spcPts val="31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Attrition Salary </a:t>
            </a:r>
          </a:p>
          <a:p>
            <a:pPr algn="l" marL="539749" indent="-269875" lvl="1">
              <a:lnSpc>
                <a:spcPts val="31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Overtime </a:t>
            </a:r>
          </a:p>
          <a:p>
            <a:pPr algn="l" marL="539749" indent="-269875" lvl="1">
              <a:lnSpc>
                <a:spcPts val="31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Satisfaction Analysis </a:t>
            </a:r>
          </a:p>
          <a:p>
            <a:pPr algn="l" marL="539749" indent="-269875" lvl="1">
              <a:lnSpc>
                <a:spcPts val="31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Attrition Prediction Summary</a:t>
            </a:r>
          </a:p>
          <a:p>
            <a:pPr algn="l">
              <a:lnSpc>
                <a:spcPts val="2699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l">
              <a:lnSpc>
                <a:spcPts val="295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81711" y="803034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POW</a:t>
              </a: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ER BI DASHBOARD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60003" y="2058408"/>
            <a:ext cx="6994882" cy="4659764"/>
          </a:xfrm>
          <a:custGeom>
            <a:avLst/>
            <a:gdLst/>
            <a:ahLst/>
            <a:cxnLst/>
            <a:rect r="r" b="b" t="t" l="l"/>
            <a:pathLst>
              <a:path h="4659764" w="6994882">
                <a:moveTo>
                  <a:pt x="0" y="0"/>
                </a:moveTo>
                <a:lnTo>
                  <a:pt x="6994882" y="0"/>
                </a:lnTo>
                <a:lnTo>
                  <a:pt x="6994882" y="4659765"/>
                </a:lnTo>
                <a:lnTo>
                  <a:pt x="0" y="46597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06047" y="1115606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POW</a:t>
              </a: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ER BI DASHBOARD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29215" y="2290996"/>
            <a:ext cx="7547577" cy="4292684"/>
          </a:xfrm>
          <a:custGeom>
            <a:avLst/>
            <a:gdLst/>
            <a:ahLst/>
            <a:cxnLst/>
            <a:rect r="r" b="b" t="t" l="l"/>
            <a:pathLst>
              <a:path h="4292684" w="7547577">
                <a:moveTo>
                  <a:pt x="0" y="0"/>
                </a:moveTo>
                <a:lnTo>
                  <a:pt x="7547577" y="0"/>
                </a:lnTo>
                <a:lnTo>
                  <a:pt x="7547577" y="4292684"/>
                </a:lnTo>
                <a:lnTo>
                  <a:pt x="0" y="4292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6168" y="941337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BUSIN</a:t>
              </a: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ESS RECOMMENDATIONS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60013" y="2150208"/>
            <a:ext cx="8222216" cy="95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4"/>
              </a:lnSpc>
            </a:pPr>
            <a:r>
              <a:rPr lang="en-US" sz="273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Recommendation 1:</a:t>
            </a:r>
          </a:p>
          <a:p>
            <a:pPr algn="l">
              <a:lnSpc>
                <a:spcPts val="1834"/>
              </a:lnSpc>
            </a:pPr>
          </a:p>
          <a:p>
            <a:pPr algn="l" marL="526323" indent="-263161" lvl="1">
              <a:lnSpc>
                <a:spcPts val="1633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employee retention </a:t>
            </a: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1834"/>
              </a:lnSpc>
            </a:pPr>
            <a:r>
              <a:rPr lang="en-US" sz="273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0013" y="3129152"/>
            <a:ext cx="8222216" cy="71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4"/>
              </a:lnSpc>
            </a:pPr>
            <a:r>
              <a:rPr lang="en-US" sz="273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Recommendation 2:</a:t>
            </a:r>
          </a:p>
          <a:p>
            <a:pPr algn="l">
              <a:lnSpc>
                <a:spcPts val="1834"/>
              </a:lnSpc>
            </a:pPr>
          </a:p>
          <a:p>
            <a:pPr algn="l" marL="526323" indent="-263161" lvl="1">
              <a:lnSpc>
                <a:spcPts val="1633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Optimise mangerial workloads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0013" y="5131024"/>
            <a:ext cx="8222216" cy="85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2"/>
              </a:lnSpc>
            </a:pPr>
            <a:r>
              <a:rPr lang="en-US" sz="273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Recommendation 4:</a:t>
            </a:r>
          </a:p>
          <a:p>
            <a:pPr algn="l">
              <a:lnSpc>
                <a:spcPts val="1642"/>
              </a:lnSpc>
            </a:pPr>
          </a:p>
          <a:p>
            <a:pPr algn="l" marL="526323" indent="-263161" lvl="1">
              <a:lnSpc>
                <a:spcPts val="1462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 monthly satisfaction surveys.</a:t>
            </a:r>
          </a:p>
          <a:p>
            <a:pPr algn="l">
              <a:lnSpc>
                <a:spcPts val="1642"/>
              </a:lnSpc>
            </a:pPr>
            <a:r>
              <a:rPr lang="en-US" sz="273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0013" y="4177340"/>
            <a:ext cx="8222216" cy="85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2"/>
              </a:lnSpc>
            </a:pPr>
            <a:r>
              <a:rPr lang="en-US" sz="273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Recommendation 3:</a:t>
            </a:r>
          </a:p>
          <a:p>
            <a:pPr algn="l">
              <a:lnSpc>
                <a:spcPts val="1642"/>
              </a:lnSpc>
            </a:pPr>
          </a:p>
          <a:p>
            <a:pPr algn="l" marL="526323" indent="-263161" lvl="1">
              <a:lnSpc>
                <a:spcPts val="1462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on the production department</a:t>
            </a:r>
            <a:r>
              <a:rPr lang="en-US" sz="24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1642"/>
              </a:lnSpc>
            </a:pPr>
            <a:r>
              <a:rPr lang="en-US" sz="273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0013" y="6119459"/>
            <a:ext cx="8673498" cy="924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2"/>
              </a:lnSpc>
            </a:pPr>
            <a:r>
              <a:rPr lang="en-US" sz="288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Recommendation 5:</a:t>
            </a:r>
          </a:p>
          <a:p>
            <a:pPr algn="l">
              <a:lnSpc>
                <a:spcPts val="1732"/>
              </a:lnSpc>
            </a:pPr>
          </a:p>
          <a:p>
            <a:pPr algn="l" marL="555210" indent="-277605" lvl="1">
              <a:lnSpc>
                <a:spcPts val="1542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</a:t>
            </a:r>
            <a:r>
              <a:rPr lang="en-US" sz="257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 attrition prediction monitoring.</a:t>
            </a:r>
          </a:p>
          <a:p>
            <a:pPr algn="l">
              <a:lnSpc>
                <a:spcPts val="1732"/>
              </a:lnSpc>
            </a:pPr>
            <a:r>
              <a:rPr lang="en-US" sz="288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31520" y="1317102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EXPECT</a:t>
              </a: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ED IMPACT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340228" y="2414493"/>
          <a:ext cx="7195064" cy="4061538"/>
        </p:xfrm>
        <a:graphic>
          <a:graphicData uri="http://schemas.openxmlformats.org/drawingml/2006/table">
            <a:tbl>
              <a:tblPr/>
              <a:tblGrid>
                <a:gridCol w="3597532"/>
                <a:gridCol w="3597532"/>
              </a:tblGrid>
              <a:tr h="812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Metric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Expected Improvement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Attrition Rate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15%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Hiring Cost -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20%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Employee Satisfaction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+25%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3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Productivity 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+10%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6168" y="1240365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FUTURE ENHANCEMENTS 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69048" y="3179699"/>
            <a:ext cx="8229600" cy="296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564" indent="-295782" lvl="1">
              <a:lnSpc>
                <a:spcPts val="2602"/>
              </a:lnSpc>
              <a:buFont typeface="Arial"/>
              <a:buChar char="•"/>
            </a:pP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attrition prediction system </a:t>
            </a:r>
          </a:p>
          <a:p>
            <a:pPr algn="l">
              <a:lnSpc>
                <a:spcPts val="2602"/>
              </a:lnSpc>
            </a:pPr>
          </a:p>
          <a:p>
            <a:pPr algn="l" marL="591564" indent="-295782" lvl="1">
              <a:lnSpc>
                <a:spcPts val="2602"/>
              </a:lnSpc>
              <a:buFont typeface="Arial"/>
              <a:buChar char="•"/>
            </a:pP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</a:t>
            </a: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HRMS</a:t>
            </a: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2602"/>
              </a:lnSpc>
            </a:pPr>
          </a:p>
          <a:p>
            <a:pPr algn="l" marL="591564" indent="-295782" lvl="1">
              <a:lnSpc>
                <a:spcPts val="2602"/>
              </a:lnSpc>
              <a:buFont typeface="Arial"/>
              <a:buChar char="•"/>
            </a:pP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 se</a:t>
            </a: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ntiment </a:t>
            </a: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nalysis</a:t>
            </a:r>
          </a:p>
          <a:p>
            <a:pPr algn="l">
              <a:lnSpc>
                <a:spcPts val="2602"/>
              </a:lnSpc>
            </a:pPr>
          </a:p>
          <a:p>
            <a:pPr algn="l" marL="591564" indent="-295782" lvl="1">
              <a:lnSpc>
                <a:spcPts val="2602"/>
              </a:lnSpc>
              <a:buFont typeface="Arial"/>
              <a:buChar char="•"/>
            </a:pP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</a:t>
            </a: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dictive</a:t>
            </a: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workforce pl</a:t>
            </a: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</a:t>
            </a: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 </a:t>
            </a:r>
          </a:p>
          <a:p>
            <a:pPr algn="l">
              <a:lnSpc>
                <a:spcPts val="2602"/>
              </a:lnSpc>
            </a:pPr>
          </a:p>
          <a:p>
            <a:pPr algn="l" marL="591564" indent="-295782" lvl="1">
              <a:lnSpc>
                <a:spcPts val="2602"/>
              </a:lnSpc>
              <a:buFont typeface="Arial"/>
              <a:buChar char="•"/>
            </a:pP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retentio</a:t>
            </a: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recommendations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6168" y="2457207"/>
            <a:ext cx="8229600" cy="40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9"/>
              </a:lnSpc>
            </a:pPr>
            <a:r>
              <a:rPr lang="en-US" sz="273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</a:t>
            </a:r>
            <a:r>
              <a:rPr lang="en-US" sz="273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Scope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6168" y="1240365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86168" y="2349902"/>
            <a:ext cx="8229600" cy="411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5"/>
              </a:lnSpc>
            </a:pPr>
            <a:r>
              <a:rPr lang="en-US" sz="303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Summary:</a:t>
            </a:r>
          </a:p>
          <a:p>
            <a:pPr algn="l">
              <a:lnSpc>
                <a:spcPts val="4255"/>
              </a:lnSpc>
            </a:pPr>
          </a:p>
          <a:p>
            <a:pPr algn="l" marL="591564" indent="-295782" lvl="1">
              <a:lnSpc>
                <a:spcPts val="4986"/>
              </a:lnSpc>
              <a:buFont typeface="Arial"/>
              <a:buChar char="•"/>
            </a:pP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Analyzed employee attrition patterns.</a:t>
            </a:r>
          </a:p>
          <a:p>
            <a:pPr algn="l" marL="591564" indent="-295782" lvl="1">
              <a:lnSpc>
                <a:spcPts val="4986"/>
              </a:lnSpc>
              <a:buFont typeface="Arial"/>
              <a:buChar char="•"/>
            </a:pP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Identified key drivers of attrition.</a:t>
            </a:r>
          </a:p>
          <a:p>
            <a:pPr algn="l" marL="591564" indent="-295782" lvl="1">
              <a:lnSpc>
                <a:spcPts val="4986"/>
              </a:lnSpc>
              <a:buFont typeface="Arial"/>
              <a:buChar char="•"/>
            </a:pP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predictive models.</a:t>
            </a:r>
          </a:p>
          <a:p>
            <a:pPr algn="l" marL="591564" indent="-295782" lvl="1">
              <a:lnSpc>
                <a:spcPts val="4986"/>
              </a:lnSpc>
              <a:buFont typeface="Arial"/>
              <a:buChar char="•"/>
            </a:pP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actionable business recommendations.</a:t>
            </a:r>
          </a:p>
          <a:p>
            <a:pPr algn="l">
              <a:lnSpc>
                <a:spcPts val="4255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228" y="258432"/>
            <a:ext cx="2115569" cy="857174"/>
            <a:chOff x="0" y="0"/>
            <a:chExt cx="2820759" cy="1142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0797" cy="1142873"/>
            </a:xfrm>
            <a:custGeom>
              <a:avLst/>
              <a:gdLst/>
              <a:ahLst/>
              <a:cxnLst/>
              <a:rect r="r" b="b" t="t" l="l"/>
              <a:pathLst>
                <a:path h="1142873" w="2820797">
                  <a:moveTo>
                    <a:pt x="0" y="0"/>
                  </a:moveTo>
                  <a:lnTo>
                    <a:pt x="2820797" y="0"/>
                  </a:lnTo>
                  <a:lnTo>
                    <a:pt x="2820797" y="1142873"/>
                  </a:lnTo>
                  <a:lnTo>
                    <a:pt x="0" y="11428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5150" y="196196"/>
            <a:ext cx="1689706" cy="981637"/>
            <a:chOff x="0" y="0"/>
            <a:chExt cx="2252942" cy="1308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980" cy="1308862"/>
            </a:xfrm>
            <a:custGeom>
              <a:avLst/>
              <a:gdLst/>
              <a:ahLst/>
              <a:cxnLst/>
              <a:rect r="r" b="b" t="t" l="l"/>
              <a:pathLst>
                <a:path h="1308862" w="2252980">
                  <a:moveTo>
                    <a:pt x="0" y="0"/>
                  </a:moveTo>
                  <a:lnTo>
                    <a:pt x="2252980" y="0"/>
                  </a:lnTo>
                  <a:lnTo>
                    <a:pt x="2252980" y="1308862"/>
                  </a:lnTo>
                  <a:lnTo>
                    <a:pt x="0" y="1308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6168" y="1240365"/>
            <a:ext cx="8412480" cy="1413934"/>
            <a:chOff x="0" y="0"/>
            <a:chExt cx="11216640" cy="18852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1216640" cy="187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1"/>
                </a:lnSpc>
              </a:pPr>
              <a:r>
                <a:rPr lang="en-US" b="true" sz="3519" spc="-2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FINAL OUTCOME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77608" y="2405401"/>
            <a:ext cx="8229600" cy="1889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9"/>
              </a:lnSpc>
            </a:pPr>
          </a:p>
          <a:p>
            <a:pPr algn="l">
              <a:lnSpc>
                <a:spcPts val="2959"/>
              </a:lnSpc>
            </a:pPr>
            <a:r>
              <a:rPr lang="en-US" sz="27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Decision Intelligence framework helps organizations make proactive HR decisions, reduce employee turnover, and improve overall business performance.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4749" y="272701"/>
            <a:ext cx="2170519" cy="826275"/>
            <a:chOff x="0" y="0"/>
            <a:chExt cx="2894025" cy="1101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94076" cy="1101725"/>
            </a:xfrm>
            <a:custGeom>
              <a:avLst/>
              <a:gdLst/>
              <a:ahLst/>
              <a:cxnLst/>
              <a:rect r="r" b="b" t="t" l="l"/>
              <a:pathLst>
                <a:path h="1101725" w="2894076">
                  <a:moveTo>
                    <a:pt x="0" y="0"/>
                  </a:moveTo>
                  <a:lnTo>
                    <a:pt x="2894076" y="0"/>
                  </a:lnTo>
                  <a:lnTo>
                    <a:pt x="2894076" y="1101725"/>
                  </a:lnTo>
                  <a:lnTo>
                    <a:pt x="0" y="110172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59700" y="216503"/>
            <a:ext cx="1518999" cy="882472"/>
            <a:chOff x="0" y="0"/>
            <a:chExt cx="2025332" cy="11766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25396" cy="1176655"/>
            </a:xfrm>
            <a:custGeom>
              <a:avLst/>
              <a:gdLst/>
              <a:ahLst/>
              <a:cxnLst/>
              <a:rect r="r" b="b" t="t" l="l"/>
              <a:pathLst>
                <a:path h="1176655" w="2025396">
                  <a:moveTo>
                    <a:pt x="0" y="0"/>
                  </a:moveTo>
                  <a:lnTo>
                    <a:pt x="2025396" y="0"/>
                  </a:lnTo>
                  <a:lnTo>
                    <a:pt x="2025396" y="1176655"/>
                  </a:lnTo>
                  <a:lnTo>
                    <a:pt x="0" y="11766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615588" y="3076948"/>
            <a:ext cx="4522424" cy="1161305"/>
            <a:chOff x="0" y="0"/>
            <a:chExt cx="6029899" cy="15484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29899" cy="1548405"/>
            </a:xfrm>
            <a:custGeom>
              <a:avLst/>
              <a:gdLst/>
              <a:ahLst/>
              <a:cxnLst/>
              <a:rect r="r" b="b" t="t" l="l"/>
              <a:pathLst>
                <a:path h="1548405" w="6029899">
                  <a:moveTo>
                    <a:pt x="0" y="0"/>
                  </a:moveTo>
                  <a:lnTo>
                    <a:pt x="6029899" y="0"/>
                  </a:lnTo>
                  <a:lnTo>
                    <a:pt x="6029899" y="1548405"/>
                  </a:lnTo>
                  <a:lnTo>
                    <a:pt x="0" y="15484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87" r="-61753" b="-13239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6029899" cy="15198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6263"/>
                </a:lnSpc>
              </a:pPr>
              <a:r>
                <a:rPr lang="en-US" b="true" sz="5799" spc="-35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THANK YOU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DAHLb6wGUDM</dc:identifier>
  <dcterms:modified xsi:type="dcterms:W3CDTF">2011-08-01T06:04:30Z</dcterms:modified>
  <cp:revision>1</cp:revision>
  <dc:title>NanMudalvan Hackfest_2026_Student_Pitch_Template.pptx</dc:title>
</cp:coreProperties>
</file>